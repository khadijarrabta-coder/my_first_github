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rwester" charset="1" panose="00000506000000000000"/>
      <p:regular r:id="rId14"/>
    </p:embeddedFont>
    <p:embeddedFont>
      <p:font typeface="Open Sans" charset="1" panose="020B0606030504020204"/>
      <p:regular r:id="rId15"/>
    </p:embeddedFont>
    <p:embeddedFont>
      <p:font typeface="Cloud Soft" charset="1" panose="02000000000000000000"/>
      <p:regular r:id="rId16"/>
    </p:embeddedFont>
    <p:embeddedFont>
      <p:font typeface="Open Sans Bold" charset="1" panose="020B0806030504020204"/>
      <p:regular r:id="rId17"/>
    </p:embeddedFont>
    <p:embeddedFont>
      <p:font typeface="Cloud Soft Bold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996033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931590" y="1426447"/>
            <a:ext cx="20151181" cy="506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78"/>
              </a:lnSpc>
            </a:pPr>
            <a:r>
              <a:rPr lang="en-US" sz="15362" spc="-752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PROJET: </a:t>
            </a:r>
          </a:p>
          <a:p>
            <a:pPr algn="ctr">
              <a:lnSpc>
                <a:spcPts val="20278"/>
              </a:lnSpc>
            </a:pPr>
            <a:r>
              <a:rPr lang="en-US" sz="15362" spc="-752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CHAT-BOT-EDUCATIF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55099" y="7909196"/>
            <a:ext cx="2133636" cy="114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REALISER PAR :</a:t>
            </a:r>
          </a:p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HERHAR CHAIMAE</a:t>
            </a:r>
          </a:p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ARRABTA KHADIJA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9265" y="8011392"/>
            <a:ext cx="2133636" cy="114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</a:pPr>
          </a:p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ENCADRER PAR:  PR.BAINA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90949" y="1186517"/>
            <a:ext cx="7387738" cy="6669905"/>
          </a:xfrm>
          <a:custGeom>
            <a:avLst/>
            <a:gdLst/>
            <a:ahLst/>
            <a:cxnLst/>
            <a:rect r="r" b="b" t="t" l="l"/>
            <a:pathLst>
              <a:path h="6669905" w="7387738">
                <a:moveTo>
                  <a:pt x="0" y="0"/>
                </a:moveTo>
                <a:lnTo>
                  <a:pt x="7387738" y="0"/>
                </a:lnTo>
                <a:lnTo>
                  <a:pt x="7387738" y="6669905"/>
                </a:lnTo>
                <a:lnTo>
                  <a:pt x="0" y="6669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031" t="0" r="-2653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19784" y="8277799"/>
            <a:ext cx="7191273" cy="647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[Problème]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Accès limité à l'éducation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│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▼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[Solution]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Utiliser un bot quasi illimité sur Telegram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│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▼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[EduBot sur Telegram]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Contenus courts, interactifs et accessibles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│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▼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[Résultat]</a:t>
            </a:r>
          </a:p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26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Apprentissage plus rapide et facilité pour tous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950309" y="1964883"/>
            <a:ext cx="3086100" cy="1229944"/>
            <a:chOff x="0" y="0"/>
            <a:chExt cx="812800" cy="323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323936"/>
            </a:xfrm>
            <a:custGeom>
              <a:avLst/>
              <a:gdLst/>
              <a:ahLst/>
              <a:cxnLst/>
              <a:rect r="r" b="b" t="t" l="l"/>
              <a:pathLst>
                <a:path h="32393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23936"/>
                  </a:lnTo>
                  <a:lnTo>
                    <a:pt x="0" y="323936"/>
                  </a:lnTo>
                  <a:close/>
                </a:path>
              </a:pathLst>
            </a:custGeom>
            <a:solidFill>
              <a:srgbClr val="00000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362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[Problème]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Accès limité à l'éducation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9851" y="328015"/>
            <a:ext cx="12827831" cy="116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12"/>
              </a:lnSpc>
            </a:pPr>
            <a:r>
              <a:rPr lang="en-US" sz="8030" spc="297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INTRODUCTION:</a:t>
            </a:r>
          </a:p>
        </p:txBody>
      </p:sp>
      <p:sp>
        <p:nvSpPr>
          <p:cNvPr name="AutoShape 8" id="8"/>
          <p:cNvSpPr/>
          <p:nvPr/>
        </p:nvSpPr>
        <p:spPr>
          <a:xfrm>
            <a:off x="4535500" y="3196038"/>
            <a:ext cx="0" cy="71045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951634" y="3906498"/>
            <a:ext cx="5167731" cy="1229944"/>
            <a:chOff x="0" y="0"/>
            <a:chExt cx="1361049" cy="323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1049" cy="323936"/>
            </a:xfrm>
            <a:custGeom>
              <a:avLst/>
              <a:gdLst/>
              <a:ahLst/>
              <a:cxnLst/>
              <a:rect r="r" b="b" t="t" l="l"/>
              <a:pathLst>
                <a:path h="323936" w="1361049">
                  <a:moveTo>
                    <a:pt x="0" y="0"/>
                  </a:moveTo>
                  <a:lnTo>
                    <a:pt x="1361049" y="0"/>
                  </a:lnTo>
                  <a:lnTo>
                    <a:pt x="1361049" y="323936"/>
                  </a:lnTo>
                  <a:lnTo>
                    <a:pt x="0" y="323936"/>
                  </a:lnTo>
                  <a:close/>
                </a:path>
              </a:pathLst>
            </a:custGeom>
            <a:solidFill>
              <a:srgbClr val="00000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61049" cy="362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[Solution]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Utili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ser un bot quasi illimité sur Telegram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51671" y="5612692"/>
            <a:ext cx="5283378" cy="1390633"/>
            <a:chOff x="0" y="0"/>
            <a:chExt cx="1391507" cy="3662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1507" cy="366257"/>
            </a:xfrm>
            <a:custGeom>
              <a:avLst/>
              <a:gdLst/>
              <a:ahLst/>
              <a:cxnLst/>
              <a:rect r="r" b="b" t="t" l="l"/>
              <a:pathLst>
                <a:path h="366257" w="1391507">
                  <a:moveTo>
                    <a:pt x="0" y="0"/>
                  </a:moveTo>
                  <a:lnTo>
                    <a:pt x="1391507" y="0"/>
                  </a:lnTo>
                  <a:lnTo>
                    <a:pt x="1391507" y="366257"/>
                  </a:lnTo>
                  <a:lnTo>
                    <a:pt x="0" y="366257"/>
                  </a:lnTo>
                  <a:close/>
                </a:path>
              </a:pathLst>
            </a:custGeom>
            <a:solidFill>
              <a:srgbClr val="00000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91507" cy="404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[EduBot sur Telegram]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Contenus 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courts, interactifs et accessibles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4460" y="7717700"/>
            <a:ext cx="6139160" cy="1229944"/>
            <a:chOff x="0" y="0"/>
            <a:chExt cx="1616898" cy="3239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16898" cy="323936"/>
            </a:xfrm>
            <a:custGeom>
              <a:avLst/>
              <a:gdLst/>
              <a:ahLst/>
              <a:cxnLst/>
              <a:rect r="r" b="b" t="t" l="l"/>
              <a:pathLst>
                <a:path h="323936" w="1616898">
                  <a:moveTo>
                    <a:pt x="0" y="0"/>
                  </a:moveTo>
                  <a:lnTo>
                    <a:pt x="1616898" y="0"/>
                  </a:lnTo>
                  <a:lnTo>
                    <a:pt x="1616898" y="323936"/>
                  </a:lnTo>
                  <a:lnTo>
                    <a:pt x="0" y="323936"/>
                  </a:lnTo>
                  <a:close/>
                </a:path>
              </a:pathLst>
            </a:custGeom>
            <a:solidFill>
              <a:srgbClr val="00000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16898" cy="362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[Résultat]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Apprentissage plus rapide et facilité pour tous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4333656" y="5143500"/>
            <a:ext cx="140653" cy="52492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4474309" y="7003325"/>
            <a:ext cx="19050" cy="7143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60877" y="6721519"/>
            <a:ext cx="3027123" cy="3547443"/>
          </a:xfrm>
          <a:custGeom>
            <a:avLst/>
            <a:gdLst/>
            <a:ahLst/>
            <a:cxnLst/>
            <a:rect r="r" b="b" t="t" l="l"/>
            <a:pathLst>
              <a:path h="3547443" w="3027123">
                <a:moveTo>
                  <a:pt x="0" y="0"/>
                </a:moveTo>
                <a:lnTo>
                  <a:pt x="3027123" y="0"/>
                </a:lnTo>
                <a:lnTo>
                  <a:pt x="3027123" y="3547443"/>
                </a:lnTo>
                <a:lnTo>
                  <a:pt x="0" y="3547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11625"/>
            <a:ext cx="9141785" cy="114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80"/>
              </a:lnSpc>
            </a:pPr>
            <a:r>
              <a:rPr lang="en-US" sz="8000" spc="296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Chat-Bot: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754491">
            <a:off x="623158" y="3254451"/>
            <a:ext cx="2992638" cy="3179430"/>
          </a:xfrm>
          <a:custGeom>
            <a:avLst/>
            <a:gdLst/>
            <a:ahLst/>
            <a:cxnLst/>
            <a:rect r="r" b="b" t="t" l="l"/>
            <a:pathLst>
              <a:path h="3179430" w="2992638">
                <a:moveTo>
                  <a:pt x="0" y="0"/>
                </a:moveTo>
                <a:lnTo>
                  <a:pt x="2992638" y="0"/>
                </a:lnTo>
                <a:lnTo>
                  <a:pt x="2992638" y="3179430"/>
                </a:lnTo>
                <a:lnTo>
                  <a:pt x="0" y="3179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589880" y="2602232"/>
            <a:ext cx="11552739" cy="3695366"/>
            <a:chOff x="0" y="0"/>
            <a:chExt cx="3589547" cy="1148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547" cy="1148186"/>
            </a:xfrm>
            <a:custGeom>
              <a:avLst/>
              <a:gdLst/>
              <a:ahLst/>
              <a:cxnLst/>
              <a:rect r="r" b="b" t="t" l="l"/>
              <a:pathLst>
                <a:path h="1148186" w="3589547">
                  <a:moveTo>
                    <a:pt x="33507" y="0"/>
                  </a:moveTo>
                  <a:lnTo>
                    <a:pt x="3556040" y="0"/>
                  </a:lnTo>
                  <a:cubicBezTo>
                    <a:pt x="3574545" y="0"/>
                    <a:pt x="3589547" y="15002"/>
                    <a:pt x="3589547" y="33507"/>
                  </a:cubicBezTo>
                  <a:lnTo>
                    <a:pt x="3589547" y="1114679"/>
                  </a:lnTo>
                  <a:cubicBezTo>
                    <a:pt x="3589547" y="1133184"/>
                    <a:pt x="3574545" y="1148186"/>
                    <a:pt x="3556040" y="1148186"/>
                  </a:cubicBezTo>
                  <a:lnTo>
                    <a:pt x="33507" y="1148186"/>
                  </a:lnTo>
                  <a:cubicBezTo>
                    <a:pt x="24620" y="1148186"/>
                    <a:pt x="16098" y="1144656"/>
                    <a:pt x="9814" y="1138372"/>
                  </a:cubicBezTo>
                  <a:cubicBezTo>
                    <a:pt x="3530" y="1132088"/>
                    <a:pt x="0" y="1123566"/>
                    <a:pt x="0" y="1114679"/>
                  </a:cubicBezTo>
                  <a:lnTo>
                    <a:pt x="0" y="33507"/>
                  </a:lnTo>
                  <a:cubicBezTo>
                    <a:pt x="0" y="24620"/>
                    <a:pt x="3530" y="16098"/>
                    <a:pt x="9814" y="9814"/>
                  </a:cubicBezTo>
                  <a:cubicBezTo>
                    <a:pt x="16098" y="3530"/>
                    <a:pt x="24620" y="0"/>
                    <a:pt x="335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89547" cy="1205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56839" y="2995389"/>
            <a:ext cx="11190015" cy="437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  <a:spcBef>
                <a:spcPct val="0"/>
              </a:spcBef>
            </a:pPr>
            <a:r>
              <a:rPr lang="en-US" sz="3614" spc="133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Chat-Bot-Educatif est un Chat-Bot  intelligent sur Telegram, offrant un apprentissage rapide, accessible et quasi illimité grâce à une connexion avec plusieurs modèles de langage (LLM), via des contenus pédagogiques simples et interactifs.</a:t>
            </a:r>
          </a:p>
          <a:p>
            <a:pPr algn="l">
              <a:lnSpc>
                <a:spcPts val="3831"/>
              </a:lnSpc>
              <a:spcBef>
                <a:spcPct val="0"/>
              </a:spcBef>
            </a:pPr>
          </a:p>
          <a:p>
            <a:pPr algn="l">
              <a:lnSpc>
                <a:spcPts val="3831"/>
              </a:lnSpc>
              <a:spcBef>
                <a:spcPct val="0"/>
              </a:spcBef>
            </a:pPr>
          </a:p>
          <a:p>
            <a:pPr algn="l">
              <a:lnSpc>
                <a:spcPts val="3831"/>
              </a:lnSpc>
              <a:spcBef>
                <a:spcPct val="0"/>
              </a:spcBef>
            </a:pPr>
          </a:p>
          <a:p>
            <a:pPr algn="l">
              <a:lnSpc>
                <a:spcPts val="38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869" y="2630246"/>
            <a:ext cx="1543050" cy="773176"/>
            <a:chOff x="0" y="0"/>
            <a:chExt cx="406400" cy="2036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203635"/>
            </a:xfrm>
            <a:custGeom>
              <a:avLst/>
              <a:gdLst/>
              <a:ahLst/>
              <a:cxnLst/>
              <a:rect r="r" b="b" t="t" l="l"/>
              <a:pathLst>
                <a:path h="20363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03635"/>
                  </a:lnTo>
                  <a:lnTo>
                    <a:pt x="0" y="203635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" cy="241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Utilisateur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44004" y="2630246"/>
            <a:ext cx="1543050" cy="915619"/>
            <a:chOff x="0" y="0"/>
            <a:chExt cx="406400" cy="241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241151"/>
            </a:xfrm>
            <a:custGeom>
              <a:avLst/>
              <a:gdLst/>
              <a:ahLst/>
              <a:cxnLst/>
              <a:rect r="r" b="b" t="t" l="l"/>
              <a:pathLst>
                <a:path h="241151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41151"/>
                  </a:lnTo>
                  <a:lnTo>
                    <a:pt x="0" y="241151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" cy="279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Bot éducatif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21416" y="2630246"/>
            <a:ext cx="1543050" cy="915619"/>
            <a:chOff x="0" y="0"/>
            <a:chExt cx="406400" cy="2411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241151"/>
            </a:xfrm>
            <a:custGeom>
              <a:avLst/>
              <a:gdLst/>
              <a:ahLst/>
              <a:cxnLst/>
              <a:rect r="r" b="b" t="t" l="l"/>
              <a:pathLst>
                <a:path h="241151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41151"/>
                  </a:lnTo>
                  <a:lnTo>
                    <a:pt x="0" y="241151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" cy="279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Serveur de Telegram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16941" y="2630246"/>
            <a:ext cx="1803618" cy="915619"/>
            <a:chOff x="0" y="0"/>
            <a:chExt cx="475027" cy="24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5027" cy="241151"/>
            </a:xfrm>
            <a:custGeom>
              <a:avLst/>
              <a:gdLst/>
              <a:ahLst/>
              <a:cxnLst/>
              <a:rect r="r" b="b" t="t" l="l"/>
              <a:pathLst>
                <a:path h="241151" w="475027">
                  <a:moveTo>
                    <a:pt x="0" y="0"/>
                  </a:moveTo>
                  <a:lnTo>
                    <a:pt x="475027" y="0"/>
                  </a:lnTo>
                  <a:lnTo>
                    <a:pt x="475027" y="241151"/>
                  </a:lnTo>
                  <a:lnTo>
                    <a:pt x="0" y="241151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5027" cy="279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Gestionnaire des API LLM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53985" y="2630246"/>
            <a:ext cx="1543050" cy="773176"/>
            <a:chOff x="0" y="0"/>
            <a:chExt cx="406400" cy="2036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203635"/>
            </a:xfrm>
            <a:custGeom>
              <a:avLst/>
              <a:gdLst/>
              <a:ahLst/>
              <a:cxnLst/>
              <a:rect r="r" b="b" t="t" l="l"/>
              <a:pathLst>
                <a:path h="20363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03635"/>
                  </a:lnTo>
                  <a:lnTo>
                    <a:pt x="0" y="203635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" cy="241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API LLM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25905" y="2630246"/>
            <a:ext cx="1543050" cy="773176"/>
            <a:chOff x="0" y="0"/>
            <a:chExt cx="406400" cy="2036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203635"/>
            </a:xfrm>
            <a:custGeom>
              <a:avLst/>
              <a:gdLst/>
              <a:ahLst/>
              <a:cxnLst/>
              <a:rect r="r" b="b" t="t" l="l"/>
              <a:pathLst>
                <a:path h="20363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03635"/>
                  </a:lnTo>
                  <a:lnTo>
                    <a:pt x="0" y="203635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241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API LLM 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73855" y="2630246"/>
            <a:ext cx="1543050" cy="773176"/>
            <a:chOff x="0" y="0"/>
            <a:chExt cx="406400" cy="2036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203635"/>
            </a:xfrm>
            <a:custGeom>
              <a:avLst/>
              <a:gdLst/>
              <a:ahLst/>
              <a:cxnLst/>
              <a:rect r="r" b="b" t="t" l="l"/>
              <a:pathLst>
                <a:path h="203635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03635"/>
                  </a:lnTo>
                  <a:lnTo>
                    <a:pt x="0" y="203635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06400" cy="241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API LLM 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87775" y="2630246"/>
            <a:ext cx="1543050" cy="915619"/>
            <a:chOff x="0" y="0"/>
            <a:chExt cx="406400" cy="2411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400" cy="241151"/>
            </a:xfrm>
            <a:custGeom>
              <a:avLst/>
              <a:gdLst/>
              <a:ahLst/>
              <a:cxnLst/>
              <a:rect r="r" b="b" t="t" l="l"/>
              <a:pathLst>
                <a:path h="241151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41151"/>
                  </a:lnTo>
                  <a:lnTo>
                    <a:pt x="0" y="241151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06400" cy="279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Réponse éducative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858104" y="3403422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006460" y="3403422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7599701" y="3545865"/>
            <a:ext cx="0" cy="6330747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5192941" y="3545865"/>
            <a:ext cx="0" cy="6330747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3134579" y="3545865"/>
            <a:ext cx="0" cy="6330747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2278380" y="3403422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7240250" y="3634715"/>
            <a:ext cx="0" cy="6260948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4964430" y="3403422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858104" y="4214251"/>
            <a:ext cx="22574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3134579" y="4667331"/>
            <a:ext cx="205836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5192941" y="5124450"/>
            <a:ext cx="2406759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7599550" y="5646918"/>
            <a:ext cx="2406759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8" id="38"/>
          <p:cNvSpPr txBox="true"/>
          <p:nvPr/>
        </p:nvSpPr>
        <p:spPr>
          <a:xfrm rot="0">
            <a:off x="1445752" y="3689876"/>
            <a:ext cx="110117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emande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044161" y="3866906"/>
            <a:ext cx="216476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Transmettre la demande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97633" y="4319986"/>
            <a:ext cx="199737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Envoyer la demande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66704" y="5105400"/>
            <a:ext cx="107275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Appel API</a:t>
            </a:r>
          </a:p>
        </p:txBody>
      </p:sp>
      <p:sp>
        <p:nvSpPr>
          <p:cNvPr name="AutoShape 42" id="42"/>
          <p:cNvSpPr/>
          <p:nvPr/>
        </p:nvSpPr>
        <p:spPr>
          <a:xfrm flipV="true">
            <a:off x="7599399" y="7003648"/>
            <a:ext cx="467898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 flipH="true" flipV="true">
            <a:off x="7618751" y="6334807"/>
            <a:ext cx="2387558" cy="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44" id="44"/>
          <p:cNvSpPr txBox="true"/>
          <p:nvPr/>
        </p:nvSpPr>
        <p:spPr>
          <a:xfrm rot="0">
            <a:off x="8178508" y="5737412"/>
            <a:ext cx="1075477" cy="23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3"/>
              </a:lnSpc>
              <a:spcBef>
                <a:spcPct val="0"/>
              </a:spcBef>
            </a:pPr>
            <a:r>
              <a:rPr lang="en-US" sz="12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[Si disponible]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266704" y="5930761"/>
            <a:ext cx="9767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Réponse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76866" y="6382432"/>
            <a:ext cx="966596" cy="24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[Si saturée]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013331" y="6590478"/>
            <a:ext cx="140583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changement</a:t>
            </a:r>
          </a:p>
        </p:txBody>
      </p:sp>
      <p:sp>
        <p:nvSpPr>
          <p:cNvPr name="AutoShape 48" id="48"/>
          <p:cNvSpPr/>
          <p:nvPr/>
        </p:nvSpPr>
        <p:spPr>
          <a:xfrm flipH="true" flipV="true">
            <a:off x="7618751" y="7670398"/>
            <a:ext cx="4678680" cy="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7553130" y="8288888"/>
            <a:ext cx="732693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 flipH="true" flipV="true">
            <a:off x="7618449" y="8794348"/>
            <a:ext cx="7327944" cy="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51" id="51"/>
          <p:cNvSpPr txBox="true"/>
          <p:nvPr/>
        </p:nvSpPr>
        <p:spPr>
          <a:xfrm rot="0">
            <a:off x="8351617" y="7270348"/>
            <a:ext cx="9767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Réponse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25907" y="7889473"/>
            <a:ext cx="195434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changement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823083" y="8394932"/>
            <a:ext cx="178632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Réponse</a:t>
            </a:r>
          </a:p>
        </p:txBody>
      </p:sp>
      <p:sp>
        <p:nvSpPr>
          <p:cNvPr name="AutoShape 54" id="54"/>
          <p:cNvSpPr/>
          <p:nvPr/>
        </p:nvSpPr>
        <p:spPr>
          <a:xfrm flipV="true">
            <a:off x="7618449" y="9546823"/>
            <a:ext cx="962180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5" id="55"/>
          <p:cNvSpPr txBox="true"/>
          <p:nvPr/>
        </p:nvSpPr>
        <p:spPr>
          <a:xfrm rot="0">
            <a:off x="15111219" y="9077642"/>
            <a:ext cx="198224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Préparer réponse</a:t>
            </a:r>
          </a:p>
        </p:txBody>
      </p:sp>
      <p:sp>
        <p:nvSpPr>
          <p:cNvPr name="AutoShape 56" id="56"/>
          <p:cNvSpPr/>
          <p:nvPr/>
        </p:nvSpPr>
        <p:spPr>
          <a:xfrm flipH="true">
            <a:off x="5208926" y="9876612"/>
            <a:ext cx="12031324" cy="0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57" id="57"/>
          <p:cNvSpPr txBox="true"/>
          <p:nvPr/>
        </p:nvSpPr>
        <p:spPr>
          <a:xfrm rot="0">
            <a:off x="5449848" y="9508723"/>
            <a:ext cx="18929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Envoyer réponse</a:t>
            </a:r>
          </a:p>
        </p:txBody>
      </p:sp>
      <p:sp>
        <p:nvSpPr>
          <p:cNvPr name="AutoShape 58" id="58"/>
          <p:cNvSpPr/>
          <p:nvPr/>
        </p:nvSpPr>
        <p:spPr>
          <a:xfrm flipH="true" flipV="true">
            <a:off x="858231" y="9499515"/>
            <a:ext cx="4350695" cy="47307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59" id="59"/>
          <p:cNvSpPr txBox="true"/>
          <p:nvPr/>
        </p:nvSpPr>
        <p:spPr>
          <a:xfrm rot="0">
            <a:off x="1500074" y="9176300"/>
            <a:ext cx="10468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rependre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-165177" y="952500"/>
            <a:ext cx="8178508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Modélisation du ChatBot:</a:t>
            </a:r>
          </a:p>
        </p:txBody>
      </p:sp>
      <p:sp>
        <p:nvSpPr>
          <p:cNvPr name="AutoShape 61" id="61"/>
          <p:cNvSpPr/>
          <p:nvPr/>
        </p:nvSpPr>
        <p:spPr>
          <a:xfrm>
            <a:off x="7599399" y="9161060"/>
            <a:ext cx="2406759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2" id="62"/>
          <p:cNvSpPr txBox="true"/>
          <p:nvPr/>
        </p:nvSpPr>
        <p:spPr>
          <a:xfrm rot="0">
            <a:off x="7823083" y="8797047"/>
            <a:ext cx="195434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changement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516" y="3398715"/>
            <a:ext cx="18002969" cy="283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8"/>
              </a:lnSpc>
            </a:pPr>
            <a:r>
              <a:rPr lang="en-US" b="true" sz="8198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Comment fonctionne</a:t>
            </a:r>
          </a:p>
          <a:p>
            <a:pPr algn="ctr">
              <a:lnSpc>
                <a:spcPts val="11478"/>
              </a:lnSpc>
              <a:spcBef>
                <a:spcPct val="0"/>
              </a:spcBef>
            </a:pPr>
            <a:r>
              <a:rPr lang="en-US" b="true" sz="8198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EduBot 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54491">
            <a:off x="-185131" y="7274857"/>
            <a:ext cx="2427663" cy="2579190"/>
          </a:xfrm>
          <a:custGeom>
            <a:avLst/>
            <a:gdLst/>
            <a:ahLst/>
            <a:cxnLst/>
            <a:rect r="r" b="b" t="t" l="l"/>
            <a:pathLst>
              <a:path h="2579190" w="2427663">
                <a:moveTo>
                  <a:pt x="0" y="0"/>
                </a:moveTo>
                <a:lnTo>
                  <a:pt x="2427662" y="0"/>
                </a:lnTo>
                <a:lnTo>
                  <a:pt x="2427662" y="2579191"/>
                </a:lnTo>
                <a:lnTo>
                  <a:pt x="0" y="257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4491">
            <a:off x="16272425" y="7274857"/>
            <a:ext cx="2427663" cy="2579190"/>
          </a:xfrm>
          <a:custGeom>
            <a:avLst/>
            <a:gdLst/>
            <a:ahLst/>
            <a:cxnLst/>
            <a:rect r="r" b="b" t="t" l="l"/>
            <a:pathLst>
              <a:path h="2579190" w="2427663">
                <a:moveTo>
                  <a:pt x="0" y="0"/>
                </a:moveTo>
                <a:lnTo>
                  <a:pt x="2427663" y="0"/>
                </a:lnTo>
                <a:lnTo>
                  <a:pt x="2427663" y="2579191"/>
                </a:lnTo>
                <a:lnTo>
                  <a:pt x="0" y="257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03933" y="2837022"/>
            <a:ext cx="9065824" cy="3789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4"/>
              </a:lnSpc>
            </a:pPr>
            <a:r>
              <a:rPr lang="en-US" b="true" sz="1093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</a:t>
            </a:r>
          </a:p>
          <a:p>
            <a:pPr algn="ctr">
              <a:lnSpc>
                <a:spcPts val="15304"/>
              </a:lnSpc>
              <a:spcBef>
                <a:spcPct val="0"/>
              </a:spcBef>
            </a:pPr>
            <a:r>
              <a:rPr lang="en-US" b="true" sz="1093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 Chat-Bot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54491">
            <a:off x="22738" y="7474475"/>
            <a:ext cx="2427663" cy="2579190"/>
          </a:xfrm>
          <a:custGeom>
            <a:avLst/>
            <a:gdLst/>
            <a:ahLst/>
            <a:cxnLst/>
            <a:rect r="r" b="b" t="t" l="l"/>
            <a:pathLst>
              <a:path h="2579190" w="2427663">
                <a:moveTo>
                  <a:pt x="0" y="0"/>
                </a:moveTo>
                <a:lnTo>
                  <a:pt x="2427662" y="0"/>
                </a:lnTo>
                <a:lnTo>
                  <a:pt x="2427662" y="2579190"/>
                </a:lnTo>
                <a:lnTo>
                  <a:pt x="0" y="2579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594075">
            <a:off x="16045469" y="13778"/>
            <a:ext cx="2427663" cy="2579190"/>
          </a:xfrm>
          <a:custGeom>
            <a:avLst/>
            <a:gdLst/>
            <a:ahLst/>
            <a:cxnLst/>
            <a:rect r="r" b="b" t="t" l="l"/>
            <a:pathLst>
              <a:path h="2579190" w="2427663">
                <a:moveTo>
                  <a:pt x="0" y="0"/>
                </a:moveTo>
                <a:lnTo>
                  <a:pt x="2427662" y="0"/>
                </a:lnTo>
                <a:lnTo>
                  <a:pt x="2427662" y="2579190"/>
                </a:lnTo>
                <a:lnTo>
                  <a:pt x="0" y="2579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9902" y="85725"/>
            <a:ext cx="11034042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</a:pPr>
            <a:r>
              <a:rPr lang="en-US" sz="9999" spc="36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Impacts attendus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8944" y="1927766"/>
            <a:ext cx="9700245" cy="2090625"/>
            <a:chOff x="0" y="0"/>
            <a:chExt cx="3013959" cy="6495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3959" cy="649577"/>
            </a:xfrm>
            <a:custGeom>
              <a:avLst/>
              <a:gdLst/>
              <a:ahLst/>
              <a:cxnLst/>
              <a:rect r="r" b="b" t="t" l="l"/>
              <a:pathLst>
                <a:path h="649577" w="3013959">
                  <a:moveTo>
                    <a:pt x="39906" y="0"/>
                  </a:moveTo>
                  <a:lnTo>
                    <a:pt x="2974054" y="0"/>
                  </a:lnTo>
                  <a:cubicBezTo>
                    <a:pt x="2996093" y="0"/>
                    <a:pt x="3013959" y="17866"/>
                    <a:pt x="3013959" y="39906"/>
                  </a:cubicBezTo>
                  <a:lnTo>
                    <a:pt x="3013959" y="609672"/>
                  </a:lnTo>
                  <a:cubicBezTo>
                    <a:pt x="3013959" y="620255"/>
                    <a:pt x="3009755" y="630405"/>
                    <a:pt x="3002271" y="637889"/>
                  </a:cubicBezTo>
                  <a:cubicBezTo>
                    <a:pt x="2994787" y="645373"/>
                    <a:pt x="2984637" y="649577"/>
                    <a:pt x="2974054" y="649577"/>
                  </a:cubicBezTo>
                  <a:lnTo>
                    <a:pt x="39906" y="649577"/>
                  </a:lnTo>
                  <a:cubicBezTo>
                    <a:pt x="17866" y="649577"/>
                    <a:pt x="0" y="631711"/>
                    <a:pt x="0" y="609672"/>
                  </a:cubicBezTo>
                  <a:lnTo>
                    <a:pt x="0" y="39906"/>
                  </a:lnTo>
                  <a:cubicBezTo>
                    <a:pt x="0" y="29322"/>
                    <a:pt x="4204" y="19172"/>
                    <a:pt x="11688" y="11688"/>
                  </a:cubicBezTo>
                  <a:cubicBezTo>
                    <a:pt x="19172" y="4204"/>
                    <a:pt x="29322" y="0"/>
                    <a:pt x="399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13959" cy="687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2400" y="1408581"/>
            <a:ext cx="996586" cy="99658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E0693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07586" y="2410325"/>
            <a:ext cx="7689202" cy="144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  <a:spcBef>
                <a:spcPct val="0"/>
              </a:spcBef>
            </a:pPr>
            <a:r>
              <a:rPr lang="en-US" b="true" sz="3498" spc="129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 Amélioration de l’expérience utilisateur grâce à des réponses rapides et disponibles 24/24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61350" y="2310878"/>
            <a:ext cx="1209658" cy="1324401"/>
          </a:xfrm>
          <a:custGeom>
            <a:avLst/>
            <a:gdLst/>
            <a:ahLst/>
            <a:cxnLst/>
            <a:rect r="r" b="b" t="t" l="l"/>
            <a:pathLst>
              <a:path h="1324401" w="1209658">
                <a:moveTo>
                  <a:pt x="0" y="0"/>
                </a:moveTo>
                <a:lnTo>
                  <a:pt x="1209658" y="0"/>
                </a:lnTo>
                <a:lnTo>
                  <a:pt x="1209658" y="1324401"/>
                </a:lnTo>
                <a:lnTo>
                  <a:pt x="0" y="1324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944" y="4911646"/>
            <a:ext cx="9700245" cy="1924238"/>
            <a:chOff x="0" y="0"/>
            <a:chExt cx="3013959" cy="5978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13959" cy="597879"/>
            </a:xfrm>
            <a:custGeom>
              <a:avLst/>
              <a:gdLst/>
              <a:ahLst/>
              <a:cxnLst/>
              <a:rect r="r" b="b" t="t" l="l"/>
              <a:pathLst>
                <a:path h="597879" w="3013959">
                  <a:moveTo>
                    <a:pt x="39906" y="0"/>
                  </a:moveTo>
                  <a:lnTo>
                    <a:pt x="2974054" y="0"/>
                  </a:lnTo>
                  <a:cubicBezTo>
                    <a:pt x="2996093" y="0"/>
                    <a:pt x="3013959" y="17866"/>
                    <a:pt x="3013959" y="39906"/>
                  </a:cubicBezTo>
                  <a:lnTo>
                    <a:pt x="3013959" y="557974"/>
                  </a:lnTo>
                  <a:cubicBezTo>
                    <a:pt x="3013959" y="568557"/>
                    <a:pt x="3009755" y="578707"/>
                    <a:pt x="3002271" y="586191"/>
                  </a:cubicBezTo>
                  <a:cubicBezTo>
                    <a:pt x="2994787" y="593675"/>
                    <a:pt x="2984637" y="597879"/>
                    <a:pt x="2974054" y="597879"/>
                  </a:cubicBezTo>
                  <a:lnTo>
                    <a:pt x="39906" y="597879"/>
                  </a:lnTo>
                  <a:cubicBezTo>
                    <a:pt x="29322" y="597879"/>
                    <a:pt x="19172" y="593675"/>
                    <a:pt x="11688" y="586191"/>
                  </a:cubicBezTo>
                  <a:cubicBezTo>
                    <a:pt x="4204" y="578707"/>
                    <a:pt x="0" y="568557"/>
                    <a:pt x="0" y="557974"/>
                  </a:cubicBezTo>
                  <a:lnTo>
                    <a:pt x="0" y="39906"/>
                  </a:lnTo>
                  <a:cubicBezTo>
                    <a:pt x="0" y="29322"/>
                    <a:pt x="4204" y="19172"/>
                    <a:pt x="11688" y="11688"/>
                  </a:cubicBezTo>
                  <a:cubicBezTo>
                    <a:pt x="19172" y="4204"/>
                    <a:pt x="29322" y="0"/>
                    <a:pt x="399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13959" cy="635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94375" y="4407525"/>
            <a:ext cx="974612" cy="1008241"/>
            <a:chOff x="0" y="0"/>
            <a:chExt cx="785689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5689" cy="812800"/>
            </a:xfrm>
            <a:custGeom>
              <a:avLst/>
              <a:gdLst/>
              <a:ahLst/>
              <a:cxnLst/>
              <a:rect r="r" b="b" t="t" l="l"/>
              <a:pathLst>
                <a:path h="812800" w="785689">
                  <a:moveTo>
                    <a:pt x="392845" y="0"/>
                  </a:moveTo>
                  <a:cubicBezTo>
                    <a:pt x="175883" y="0"/>
                    <a:pt x="0" y="181951"/>
                    <a:pt x="0" y="406400"/>
                  </a:cubicBezTo>
                  <a:cubicBezTo>
                    <a:pt x="0" y="630849"/>
                    <a:pt x="175883" y="812800"/>
                    <a:pt x="392845" y="812800"/>
                  </a:cubicBezTo>
                  <a:cubicBezTo>
                    <a:pt x="609807" y="812800"/>
                    <a:pt x="785689" y="630849"/>
                    <a:pt x="785689" y="406400"/>
                  </a:cubicBezTo>
                  <a:cubicBezTo>
                    <a:pt x="785689" y="181951"/>
                    <a:pt x="609807" y="0"/>
                    <a:pt x="3928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3658" y="28575"/>
              <a:ext cx="638373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E0693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32410" y="5415767"/>
            <a:ext cx="1338598" cy="963372"/>
          </a:xfrm>
          <a:custGeom>
            <a:avLst/>
            <a:gdLst/>
            <a:ahLst/>
            <a:cxnLst/>
            <a:rect r="r" b="b" t="t" l="l"/>
            <a:pathLst>
              <a:path h="963372" w="1338598">
                <a:moveTo>
                  <a:pt x="0" y="0"/>
                </a:moveTo>
                <a:lnTo>
                  <a:pt x="1338598" y="0"/>
                </a:lnTo>
                <a:lnTo>
                  <a:pt x="1338598" y="963372"/>
                </a:lnTo>
                <a:lnTo>
                  <a:pt x="0" y="963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15186" y="5391134"/>
            <a:ext cx="7874003" cy="144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  <a:spcBef>
                <a:spcPct val="0"/>
              </a:spcBef>
            </a:pPr>
            <a:r>
              <a:rPr lang="en-US" b="true" sz="3498" spc="129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 Meilleure accessibilité du service via Telegram (plateforme largement utilisée)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88944" y="7940784"/>
            <a:ext cx="9700245" cy="2031891"/>
            <a:chOff x="0" y="0"/>
            <a:chExt cx="3013959" cy="631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13959" cy="631328"/>
            </a:xfrm>
            <a:custGeom>
              <a:avLst/>
              <a:gdLst/>
              <a:ahLst/>
              <a:cxnLst/>
              <a:rect r="r" b="b" t="t" l="l"/>
              <a:pathLst>
                <a:path h="631328" w="3013959">
                  <a:moveTo>
                    <a:pt x="39906" y="0"/>
                  </a:moveTo>
                  <a:lnTo>
                    <a:pt x="2974054" y="0"/>
                  </a:lnTo>
                  <a:cubicBezTo>
                    <a:pt x="2996093" y="0"/>
                    <a:pt x="3013959" y="17866"/>
                    <a:pt x="3013959" y="39906"/>
                  </a:cubicBezTo>
                  <a:lnTo>
                    <a:pt x="3013959" y="591422"/>
                  </a:lnTo>
                  <a:cubicBezTo>
                    <a:pt x="3013959" y="602006"/>
                    <a:pt x="3009755" y="612156"/>
                    <a:pt x="3002271" y="619640"/>
                  </a:cubicBezTo>
                  <a:cubicBezTo>
                    <a:pt x="2994787" y="627124"/>
                    <a:pt x="2984637" y="631328"/>
                    <a:pt x="2974054" y="631328"/>
                  </a:cubicBezTo>
                  <a:lnTo>
                    <a:pt x="39906" y="631328"/>
                  </a:lnTo>
                  <a:cubicBezTo>
                    <a:pt x="17866" y="631328"/>
                    <a:pt x="0" y="613461"/>
                    <a:pt x="0" y="591422"/>
                  </a:cubicBezTo>
                  <a:lnTo>
                    <a:pt x="0" y="39906"/>
                  </a:lnTo>
                  <a:cubicBezTo>
                    <a:pt x="0" y="29322"/>
                    <a:pt x="4204" y="19172"/>
                    <a:pt x="11688" y="11688"/>
                  </a:cubicBezTo>
                  <a:cubicBezTo>
                    <a:pt x="19172" y="4204"/>
                    <a:pt x="29322" y="0"/>
                    <a:pt x="399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013959" cy="669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42498" y="8383697"/>
            <a:ext cx="1118423" cy="1146066"/>
          </a:xfrm>
          <a:custGeom>
            <a:avLst/>
            <a:gdLst/>
            <a:ahLst/>
            <a:cxnLst/>
            <a:rect r="r" b="b" t="t" l="l"/>
            <a:pathLst>
              <a:path h="1146066" w="1118423">
                <a:moveTo>
                  <a:pt x="0" y="0"/>
                </a:moveTo>
                <a:lnTo>
                  <a:pt x="1118423" y="0"/>
                </a:lnTo>
                <a:lnTo>
                  <a:pt x="1118423" y="1146065"/>
                </a:lnTo>
                <a:lnTo>
                  <a:pt x="0" y="1146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594375" y="7387111"/>
            <a:ext cx="996586" cy="9965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E0693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315186" y="8412272"/>
            <a:ext cx="7874003" cy="144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  <a:spcBef>
                <a:spcPct val="0"/>
              </a:spcBef>
            </a:pPr>
            <a:r>
              <a:rPr lang="en-US" b="true" sz="3498" spc="129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 Optimisation de la communication grâce à des réponses cohérentes et automatisées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551853" y="2591847"/>
            <a:ext cx="6089513" cy="6323725"/>
          </a:xfrm>
          <a:custGeom>
            <a:avLst/>
            <a:gdLst/>
            <a:ahLst/>
            <a:cxnLst/>
            <a:rect r="r" b="b" t="t" l="l"/>
            <a:pathLst>
              <a:path h="6323725" w="6089513">
                <a:moveTo>
                  <a:pt x="0" y="0"/>
                </a:moveTo>
                <a:lnTo>
                  <a:pt x="6089513" y="0"/>
                </a:lnTo>
                <a:lnTo>
                  <a:pt x="6089513" y="6323725"/>
                </a:lnTo>
                <a:lnTo>
                  <a:pt x="0" y="6323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80800" y="3190911"/>
            <a:ext cx="14383664" cy="345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52"/>
              </a:lnSpc>
            </a:pPr>
            <a:r>
              <a:rPr lang="en-US" sz="12502" spc="462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Merci pour votre attention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754491">
            <a:off x="148932" y="7572572"/>
            <a:ext cx="2427663" cy="2579190"/>
          </a:xfrm>
          <a:custGeom>
            <a:avLst/>
            <a:gdLst/>
            <a:ahLst/>
            <a:cxnLst/>
            <a:rect r="r" b="b" t="t" l="l"/>
            <a:pathLst>
              <a:path h="2579190" w="2427663">
                <a:moveTo>
                  <a:pt x="0" y="0"/>
                </a:moveTo>
                <a:lnTo>
                  <a:pt x="2427663" y="0"/>
                </a:lnTo>
                <a:lnTo>
                  <a:pt x="2427663" y="2579190"/>
                </a:lnTo>
                <a:lnTo>
                  <a:pt x="0" y="2579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4491">
            <a:off x="15608690" y="7474475"/>
            <a:ext cx="2427663" cy="2579190"/>
          </a:xfrm>
          <a:custGeom>
            <a:avLst/>
            <a:gdLst/>
            <a:ahLst/>
            <a:cxnLst/>
            <a:rect r="r" b="b" t="t" l="l"/>
            <a:pathLst>
              <a:path h="2579190" w="2427663">
                <a:moveTo>
                  <a:pt x="0" y="0"/>
                </a:moveTo>
                <a:lnTo>
                  <a:pt x="2427663" y="0"/>
                </a:lnTo>
                <a:lnTo>
                  <a:pt x="2427663" y="2579190"/>
                </a:lnTo>
                <a:lnTo>
                  <a:pt x="0" y="2579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33954">
            <a:off x="15745738" y="-68097"/>
            <a:ext cx="3027123" cy="3547443"/>
          </a:xfrm>
          <a:custGeom>
            <a:avLst/>
            <a:gdLst/>
            <a:ahLst/>
            <a:cxnLst/>
            <a:rect r="r" b="b" t="t" l="l"/>
            <a:pathLst>
              <a:path h="3547443" w="3027123">
                <a:moveTo>
                  <a:pt x="0" y="0"/>
                </a:moveTo>
                <a:lnTo>
                  <a:pt x="3027124" y="0"/>
                </a:lnTo>
                <a:lnTo>
                  <a:pt x="3027124" y="3547443"/>
                </a:lnTo>
                <a:lnTo>
                  <a:pt x="0" y="35474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DAG6G-YwAsg</dc:identifier>
  <dcterms:modified xsi:type="dcterms:W3CDTF">2011-08-01T06:04:30Z</dcterms:modified>
  <cp:revision>1</cp:revision>
  <dc:title>Problematique</dc:title>
</cp:coreProperties>
</file>